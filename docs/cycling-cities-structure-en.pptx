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D19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F1D19"/>
                </a:solidFill>
                <a:latin typeface="Cambria"/>
              </a:rPr>
              <a:t>Site records by source 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Verified</c:v>
                </c:pt>
              </c:strCache>
            </c:strRef>
          </c:tx>
          <c:spPr>
            <a:solidFill>
              <a:srgbClr val="565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1EFE9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Site records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Unconfirmed</c:v>
                </c:pt>
              </c:strCache>
            </c:strRef>
          </c:tx>
          <c:spPr>
            <a:solidFill>
              <a:srgbClr val="C15F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1EFE9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Site records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1EFE9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C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6D3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C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1EFE9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6534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CYCLING CITIES  ·  TOOL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1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Digital Experience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61188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B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 of the working prototype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224528"/>
            <a:ext cx="6583680" cy="1005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44398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v2.1     |     Minneapolis / Rotterdam     |     English · 繁體中文 · Nederlands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82803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cycling-cities-platform.vercel.app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66928" y="554126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prototype. 31 site records, 4 of them with verified sources.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783080"/>
            <a:ext cx="3621024" cy="3108960"/>
          </a:xfrm>
          <a:prstGeom prst="rect">
            <a:avLst/>
          </a:prstGeom>
          <a:solidFill>
            <a:srgbClr val="1F1D19"/>
          </a:solidFill>
          <a:ln w="12700">
            <a:solidFill>
              <a:srgbClr val="5653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0" y="1783080"/>
            <a:ext cx="3621024" cy="38404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11" name="Text 9"/>
          <p:cNvSpPr/>
          <p:nvPr/>
        </p:nvSpPr>
        <p:spPr>
          <a:xfrm>
            <a:off x="8129016" y="18196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18388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451592" y="2350008"/>
            <a:ext cx="1024128" cy="232257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51592" y="244144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579608" y="2880360"/>
            <a:ext cx="768096" cy="12801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79608" y="3200400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79608" y="3447288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79608" y="3694176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79608" y="3941064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ANATOMY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screen, five regions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1790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tool is a single page. Nothing navigates away; every control changes what the map shows.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5989320" cy="374904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03120"/>
            <a:ext cx="5989320" cy="420624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148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BAR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04288" y="3840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CANVAS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27448" y="2724912"/>
            <a:ext cx="1664208" cy="2926080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8346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1D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3752" y="3310128"/>
            <a:ext cx="1371600" cy="146304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873752" y="367588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404164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4" name="Shape 12"/>
          <p:cNvSpPr/>
          <p:nvPr/>
        </p:nvSpPr>
        <p:spPr>
          <a:xfrm>
            <a:off x="4873752" y="440740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477316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513892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2761488"/>
            <a:ext cx="2286000" cy="548640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761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4828032"/>
            <a:ext cx="2103120" cy="786384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28032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CARD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84848" y="213969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2" name="Text 20"/>
          <p:cNvSpPr/>
          <p:nvPr/>
        </p:nvSpPr>
        <p:spPr>
          <a:xfrm>
            <a:off x="6784848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60336" y="21122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bar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60336" y="23957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the four views, search, contribute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784848" y="288950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6" name="Text 24"/>
          <p:cNvSpPr/>
          <p:nvPr/>
        </p:nvSpPr>
        <p:spPr>
          <a:xfrm>
            <a:off x="6784848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60336" y="28620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canvas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60336" y="31455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with a CARTO basemap and a dated raster overlay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784848" y="363931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0" name="Text 28"/>
          <p:cNvSpPr/>
          <p:nvPr/>
        </p:nvSpPr>
        <p:spPr>
          <a:xfrm>
            <a:off x="6784848" y="3639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60336" y="3611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panel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60336" y="38953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controls, in seven numbered sections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784848" y="4389120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4" name="Text 32"/>
          <p:cNvSpPr/>
          <p:nvPr/>
        </p:nvSpPr>
        <p:spPr>
          <a:xfrm>
            <a:off x="6784848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60336" y="43616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notice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260336" y="46451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warning, linking to the full data status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784848" y="513892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8" name="Text 36"/>
          <p:cNvSpPr/>
          <p:nvPr/>
        </p:nvSpPr>
        <p:spPr>
          <a:xfrm>
            <a:off x="6784848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260336" y="51114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card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260336" y="5394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Legend, current city, current decade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views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6654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2542032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map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2944368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city at a time. Markers carry the decade and the analytic factor.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63056" y="1700784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28816" y="206654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28816" y="2542032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cities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28816" y="2944368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synchronised maps side by side, held at one zoom level.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96512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46227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62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4937760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stories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32688" y="5340096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narrative periods. Selecting one moves the map and the timeline.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63056" y="4096512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28816" y="446227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1" name="Text 19"/>
          <p:cNvSpPr/>
          <p:nvPr/>
        </p:nvSpPr>
        <p:spPr>
          <a:xfrm>
            <a:off x="6528816" y="4462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28816" y="4937760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method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28816" y="5340096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five-factor method, and how a record becomes verified.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PANEL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numbered sections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42416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city, compare the two, or open the global network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651760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87121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42416" y="2834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Decade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2416" y="31455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steps from 1890. The 2020s run to today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67328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98678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3950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overlay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42416" y="42611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raster map, opacity, then-and-now swipe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882896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510235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102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42416" y="5065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factors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2416" y="53766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map by the analytic factors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5998464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24" name="Shape 22"/>
          <p:cNvSpPr/>
          <p:nvPr/>
        </p:nvSpPr>
        <p:spPr>
          <a:xfrm>
            <a:off x="6163056" y="175564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5" name="Text 23"/>
          <p:cNvSpPr/>
          <p:nvPr/>
        </p:nvSpPr>
        <p:spPr>
          <a:xfrm>
            <a:off x="616305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38544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Modal split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38544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chart, plus junction-level slots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63056" y="2651760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63056" y="287121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0" name="Text 28"/>
          <p:cNvSpPr/>
          <p:nvPr/>
        </p:nvSpPr>
        <p:spPr>
          <a:xfrm>
            <a:off x="6163056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38544" y="2834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 record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38544" y="31455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record, its status and its citation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63056" y="3767328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34" name="Shape 32"/>
          <p:cNvSpPr/>
          <p:nvPr/>
        </p:nvSpPr>
        <p:spPr>
          <a:xfrm>
            <a:off x="6163056" y="398678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5" name="Text 33"/>
          <p:cNvSpPr/>
          <p:nvPr/>
        </p:nvSpPr>
        <p:spPr>
          <a:xfrm>
            <a:off x="6163056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38544" y="3950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Basemap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38544" y="42611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CARTO styles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63056" y="4882896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JSON files, no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653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reference.json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157984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Decades, eras, five factors, cities, 9 narrative periods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529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sites.json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314553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site records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730752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840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modalsplit.json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413308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city-level rows, all placeholder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718304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8280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intersections.json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" y="512064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junction slots, counts empty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656832" y="1755648"/>
          <a:ext cx="49651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656832" y="4261104"/>
            <a:ext cx="4965192" cy="1536192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8" name="Text 15"/>
          <p:cNvSpPr/>
          <p:nvPr/>
        </p:nvSpPr>
        <p:spPr>
          <a:xfrm>
            <a:off x="6931152" y="4480560"/>
            <a:ext cx="4416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in the interface is invented. Where a value is unknown the interface prints [TO BE CONFIRMED] instead of filling the gap.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places that mark unconfirmed content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700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marker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2416" y="201168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Hollow with a dashed edge. Verified records are solid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63056" y="173736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9" name="Text 7"/>
          <p:cNvSpPr/>
          <p:nvPr/>
        </p:nvSpPr>
        <p:spPr>
          <a:xfrm>
            <a:off x="6163056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38544" y="1700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legend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38544" y="201168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"unconfirmed" entry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79806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42416" y="27614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 card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42416" y="30723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frame and a vermilion warning box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3056" y="279806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7" name="Text 15"/>
          <p:cNvSpPr/>
          <p:nvPr/>
        </p:nvSpPr>
        <p:spPr>
          <a:xfrm>
            <a:off x="616305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38544" y="27614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field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38544" y="30723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 BE CONFIRMED] in vermilion monospace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85876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42416" y="38221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Citation button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42416" y="41330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copy a placeholder record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63056" y="385876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5" name="Text 23"/>
          <p:cNvSpPr/>
          <p:nvPr/>
        </p:nvSpPr>
        <p:spPr>
          <a:xfrm>
            <a:off x="6163056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38544" y="38221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 counts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38544" y="41330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verified / total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2416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 draft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42416" y="519379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Lorem Ipsum on a hatched ground, labelled as not content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files, served from the edge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3200400" cy="137160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files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950208" y="2432304"/>
            <a:ext cx="256032" cy="45720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8" name="Shape 6"/>
          <p:cNvSpPr/>
          <p:nvPr/>
        </p:nvSpPr>
        <p:spPr>
          <a:xfrm rot="5400000">
            <a:off x="4187952" y="2340864"/>
            <a:ext cx="182880" cy="228600"/>
          </a:xfrm>
          <a:prstGeom prst="triangle">
            <a:avLst/>
          </a:prstGeom>
          <a:solidFill>
            <a:srgbClr val="C15F3C"/>
          </a:solidFill>
          <a:ln/>
        </p:spPr>
      </p:sp>
      <p:sp>
        <p:nvSpPr>
          <p:cNvPr id="9" name="Shape 7"/>
          <p:cNvSpPr/>
          <p:nvPr/>
        </p:nvSpPr>
        <p:spPr>
          <a:xfrm>
            <a:off x="4480560" y="1773936"/>
            <a:ext cx="3200400" cy="137160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36592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63840" y="2432304"/>
            <a:ext cx="256032" cy="45720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3" name="Shape 11"/>
          <p:cNvSpPr/>
          <p:nvPr/>
        </p:nvSpPr>
        <p:spPr>
          <a:xfrm rot="5400000">
            <a:off x="8101584" y="2340864"/>
            <a:ext cx="182880" cy="228600"/>
          </a:xfrm>
          <a:prstGeom prst="triangle">
            <a:avLst/>
          </a:prstGeom>
          <a:solidFill>
            <a:srgbClr val="C15F3C"/>
          </a:solidFill>
          <a:ln/>
        </p:spPr>
      </p:sp>
      <p:sp>
        <p:nvSpPr>
          <p:cNvPr id="14" name="Shape 12"/>
          <p:cNvSpPr/>
          <p:nvPr/>
        </p:nvSpPr>
        <p:spPr>
          <a:xfrm>
            <a:off x="8394192" y="1773936"/>
            <a:ext cx="3200400" cy="1371600"/>
          </a:xfrm>
          <a:prstGeom prst="rect">
            <a:avLst/>
          </a:prstGeom>
          <a:solidFill>
            <a:srgbClr val="1F1D19"/>
          </a:solidFill>
          <a:ln w="12700">
            <a:solidFill>
              <a:srgbClr val="1F1D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50224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50224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B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456432"/>
            <a:ext cx="5760720" cy="1481328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393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raster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" y="395020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PMTiles hosted on GitHub Pages, read with HTTP range requests, so only the tiles in view are fetched.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56832" y="3456432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out of scope (build plan §7)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56832" y="3822192"/>
            <a:ext cx="4965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backend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accounts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app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image embedded before rights are cleared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AND STATE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languages, and state in the URL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700784" cy="1225296"/>
          </a:xfrm>
          <a:prstGeom prst="rect">
            <a:avLst/>
          </a:prstGeom>
          <a:solidFill>
            <a:srgbClr val="1F1D19"/>
          </a:solidFill>
          <a:ln w="12700">
            <a:solidFill>
              <a:srgbClr val="1F1D1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05456" y="1773936"/>
            <a:ext cx="1700784" cy="122529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05456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繁體中文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1773936"/>
            <a:ext cx="1700784" cy="122529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3984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D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43984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Nederlands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3163824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5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 interface strings in each language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" y="351129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 is a working translation and still needs a native reader before publication.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56832" y="1773936"/>
            <a:ext cx="4965192" cy="3108960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6" name="Text 14"/>
          <p:cNvSpPr/>
          <p:nvPr/>
        </p:nvSpPr>
        <p:spPr>
          <a:xfrm>
            <a:off x="6931152" y="2048256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view can be linked and reopened exactly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931152" y="2578608"/>
            <a:ext cx="4416552" cy="56692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18" name="Text 16"/>
          <p:cNvSpPr/>
          <p:nvPr/>
        </p:nvSpPr>
        <p:spPr>
          <a:xfrm>
            <a:off x="6931152" y="2578608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?lang=nl&amp;city=rdam&amp;d=1970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31152" y="3346704"/>
            <a:ext cx="4416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B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Language, city and decade travel in the address bar, so a colleague opens the same screen you were looking 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D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1EF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research team supplies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9222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8105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or replace 27 placeholder site records and their citations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39572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42416" y="24140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modal split figures with a derivation method and a source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3017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junctions, then provide counts, method, date and hour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362102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nine narrative periods now held by Lorem Ipsum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2416" y="422452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image rights before any image is embedded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56832" y="1737360"/>
            <a:ext cx="4965192" cy="3529584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20" name="Text 18"/>
          <p:cNvSpPr/>
          <p:nvPr/>
        </p:nvSpPr>
        <p:spPr>
          <a:xfrm>
            <a:off x="6931152" y="1975104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5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 needed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31152" y="2468880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contributions be stored? That requires a backend, which the build plan currently excludes.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31152" y="3840480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claims "50+ cities" in the network view, but the data file holds 12. Confirm the number or change the wording.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Experience</dc:title>
  <dc:subject>PptxGenJS Presentation</dc:subject>
  <dc:creator>Cycling Cities Tool 2</dc:creator>
  <cp:lastModifiedBy>Cycling Cities Tool 2</cp:lastModifiedBy>
  <cp:revision>1</cp:revision>
  <dcterms:created xsi:type="dcterms:W3CDTF">2026-08-21T07:53:27Z</dcterms:created>
  <dcterms:modified xsi:type="dcterms:W3CDTF">2026-08-21T07:53:27Z</dcterms:modified>
</cp:coreProperties>
</file>