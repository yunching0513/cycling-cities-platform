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D19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F1D19"/>
                </a:solidFill>
                <a:latin typeface="Georgia"/>
              </a:rPr>
              <a:t>Site records by source status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</c:v>
                </c:pt>
              </c:strCache>
            </c:strRef>
          </c:tx>
          <c:spPr>
            <a:solidFill>
              <a:srgbClr val="5653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EFE9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Site records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Unconfirmed</c:v>
                </c:pt>
              </c:strCache>
            </c:strRef>
          </c:tx>
          <c:spPr>
            <a:solidFill>
              <a:srgbClr val="C15F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EFE9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Site records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EFE9"/>
                  </a:solidFill>
                  <a:latin typeface="JetBrains Mon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7C73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6D3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399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EFE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6534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1EF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29844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cycling histories to mobility futures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1645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BBB8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CYCLING CITIES  ·  TOOL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1975104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03504" y="4041648"/>
            <a:ext cx="640080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4027932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42245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structure of the working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791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4974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Minneapolis / Rotterdam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95344" y="4791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95344" y="4974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1890s to today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5358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3504" y="55412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繁體中文 · NL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95344" y="5358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95344" y="55412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v2.1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59984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cycling-cities-platform.vercel.app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prototype. 31 site records, 4 of them with verified sources.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82128" y="1298448"/>
            <a:ext cx="3703320" cy="5212080"/>
          </a:xfrm>
          <a:prstGeom prst="rect">
            <a:avLst/>
          </a:prstGeom>
          <a:solidFill>
            <a:srgbClr val="EAE8E2"/>
          </a:solidFill>
          <a:ln w="12700">
            <a:solidFill>
              <a:srgbClr val="565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82128" y="1298448"/>
            <a:ext cx="3703320" cy="365760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1399032"/>
            <a:ext cx="164592" cy="164592"/>
          </a:xfrm>
          <a:prstGeom prst="ellipse">
            <a:avLst/>
          </a:prstGeom>
          <a:solidFill>
            <a:srgbClr val="1F1D19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Cycling Cities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54896" y="1380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1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10021824" y="1380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0588752" y="1380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Stories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8266176" y="230428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96528" y="30358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385048" y="381304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253728" y="440740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9368" y="513892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482328" y="340156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933688" y="57790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46720" y="5596128"/>
            <a:ext cx="1737360" cy="749808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47304" y="56875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0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 VIEW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147304" y="58521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Minneapolis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68128" y="1801368"/>
            <a:ext cx="1280160" cy="4562856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8712" y="19110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CITY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0268712" y="2093976"/>
            <a:ext cx="1078992" cy="182880"/>
          </a:xfrm>
          <a:prstGeom prst="rect">
            <a:avLst/>
          </a:prstGeom>
          <a:solidFill>
            <a:srgbClr val="EAE8E2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68712" y="23682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DECADE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10268712" y="25328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1890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268712" y="2880360"/>
            <a:ext cx="1078992" cy="23774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32136" y="2834640"/>
            <a:ext cx="109728" cy="109728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68712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51711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34711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17710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0710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83709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66708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49708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32707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15706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52" name="Shape 50"/>
          <p:cNvSpPr/>
          <p:nvPr/>
        </p:nvSpPr>
        <p:spPr>
          <a:xfrm>
            <a:off x="11098706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3" name="Shape 51"/>
          <p:cNvSpPr/>
          <p:nvPr/>
        </p:nvSpPr>
        <p:spPr>
          <a:xfrm>
            <a:off x="11181705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4" name="Shape 52"/>
          <p:cNvSpPr/>
          <p:nvPr/>
        </p:nvSpPr>
        <p:spPr>
          <a:xfrm>
            <a:off x="11264705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47704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56" name="Text 54"/>
          <p:cNvSpPr/>
          <p:nvPr/>
        </p:nvSpPr>
        <p:spPr>
          <a:xfrm>
            <a:off x="10268712" y="3227832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OVERLAY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10268712" y="3392424"/>
            <a:ext cx="1078992" cy="182880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68712" y="36667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FIVE FACTORS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10268712" y="3849624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332720" y="3918204"/>
            <a:ext cx="54864" cy="5486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68712" y="4105656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32720" y="4174236"/>
            <a:ext cx="54864" cy="54864"/>
          </a:xfrm>
          <a:prstGeom prst="rect">
            <a:avLst/>
          </a:prstGeom>
          <a:solidFill>
            <a:srgbClr val="5B7B7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68712" y="4361688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32720" y="4430268"/>
            <a:ext cx="54864" cy="54864"/>
          </a:xfrm>
          <a:prstGeom prst="rect">
            <a:avLst/>
          </a:prstGeom>
          <a:solidFill>
            <a:srgbClr val="8A7A4E"/>
          </a:solidFill>
          <a:ln/>
        </p:spPr>
      </p:sp>
      <p:sp>
        <p:nvSpPr>
          <p:cNvPr id="65" name="Shape 63"/>
          <p:cNvSpPr/>
          <p:nvPr/>
        </p:nvSpPr>
        <p:spPr>
          <a:xfrm>
            <a:off x="10268712" y="4617720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32720" y="4686300"/>
            <a:ext cx="54864" cy="54864"/>
          </a:xfrm>
          <a:prstGeom prst="rect">
            <a:avLst/>
          </a:prstGeom>
          <a:solidFill>
            <a:srgbClr val="7A4B52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68712" y="4873752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32720" y="4942332"/>
            <a:ext cx="54864" cy="54864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69" name="Text 67"/>
          <p:cNvSpPr/>
          <p:nvPr/>
        </p:nvSpPr>
        <p:spPr>
          <a:xfrm>
            <a:off x="10268712" y="520293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MODAL SPLIT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10268712" y="5367528"/>
            <a:ext cx="1078992" cy="457200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87000" y="5477256"/>
            <a:ext cx="242316" cy="31089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72" name="Shape 70"/>
          <p:cNvSpPr/>
          <p:nvPr/>
        </p:nvSpPr>
        <p:spPr>
          <a:xfrm>
            <a:off x="10556748" y="5586984"/>
            <a:ext cx="242316" cy="201168"/>
          </a:xfrm>
          <a:prstGeom prst="rect">
            <a:avLst/>
          </a:prstGeom>
          <a:solidFill>
            <a:srgbClr val="5B7B7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826496" y="5660136"/>
            <a:ext cx="242316" cy="128016"/>
          </a:xfrm>
          <a:prstGeom prst="rect">
            <a:avLst/>
          </a:prstGeom>
          <a:solidFill>
            <a:srgbClr val="8A7A4E"/>
          </a:solidFill>
          <a:ln/>
        </p:spPr>
      </p:sp>
      <p:sp>
        <p:nvSpPr>
          <p:cNvPr id="74" name="Shape 72"/>
          <p:cNvSpPr/>
          <p:nvPr/>
        </p:nvSpPr>
        <p:spPr>
          <a:xfrm>
            <a:off x="11096244" y="5422392"/>
            <a:ext cx="242316" cy="365760"/>
          </a:xfrm>
          <a:prstGeom prst="rect">
            <a:avLst/>
          </a:prstGeom>
          <a:solidFill>
            <a:srgbClr val="5653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anatomy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screen, five regions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6093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tool is a single page. Nothing navigates away: every control changes what the map shows.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2121408"/>
            <a:ext cx="5852160" cy="3529584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121408"/>
            <a:ext cx="5852160" cy="384048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21579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F1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 BAR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20824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40" kern="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 CANVAS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43584" y="317296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5104" y="413308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980944" y="34930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483864" y="454456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340864" y="495604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6784" y="518464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681728" y="2688336"/>
            <a:ext cx="1609344" cy="2706624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27980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40" kern="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9744" y="3072384"/>
            <a:ext cx="1353312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3059582"/>
            <a:ext cx="310896" cy="25603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9744" y="3255264"/>
            <a:ext cx="1353312" cy="201168"/>
          </a:xfrm>
          <a:prstGeom prst="rect">
            <a:avLst/>
          </a:prstGeom>
          <a:solidFill>
            <a:srgbClr val="EAE8E2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3602736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950208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4297680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4645152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724912"/>
            <a:ext cx="2139696" cy="512064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2724912"/>
            <a:ext cx="28346" cy="51206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4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1248" y="4718304"/>
            <a:ext cx="2011680" cy="713232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71830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40" kern="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 CARD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4848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77456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bar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70848" y="2240280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4" name="Text 32"/>
          <p:cNvSpPr/>
          <p:nvPr/>
        </p:nvSpPr>
        <p:spPr>
          <a:xfrm>
            <a:off x="7077456" y="2395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the four views, search, contribute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84848" y="28346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77456" y="2798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canvas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70848" y="2935224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8" name="Text 36"/>
          <p:cNvSpPr/>
          <p:nvPr/>
        </p:nvSpPr>
        <p:spPr>
          <a:xfrm>
            <a:off x="7077456" y="3090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with a CARTO basemap and a dated raster overlay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84848" y="35295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77456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panel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070848" y="3630168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42" name="Text 40"/>
          <p:cNvSpPr/>
          <p:nvPr/>
        </p:nvSpPr>
        <p:spPr>
          <a:xfrm>
            <a:off x="7077456" y="37856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controls, in seven numbered sections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784848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77456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notice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070848" y="4325112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46" name="Text 44"/>
          <p:cNvSpPr/>
          <p:nvPr/>
        </p:nvSpPr>
        <p:spPr>
          <a:xfrm>
            <a:off x="7077456" y="4480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warning, linking to the full data status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784848" y="49194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77456" y="4882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card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070848" y="5020056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50" name="Text 48"/>
          <p:cNvSpPr/>
          <p:nvPr/>
        </p:nvSpPr>
        <p:spPr>
          <a:xfrm>
            <a:off x="7077456" y="51755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Legend, current city, current decade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784848" y="5705856"/>
            <a:ext cx="4800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52" name="Text 50"/>
          <p:cNvSpPr/>
          <p:nvPr/>
        </p:nvSpPr>
        <p:spPr>
          <a:xfrm>
            <a:off x="6784848" y="5852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visit opens a seven-step guided tour. The ? in the top bar reopens it at any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views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792224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25296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8688" y="2240280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578608"/>
            <a:ext cx="118872" cy="118872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2468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map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2926080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city at a time. Markers carry the decade and the analytic factor.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1792224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122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05672" y="2240280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2578608"/>
            <a:ext cx="118872" cy="118872"/>
          </a:xfrm>
          <a:prstGeom prst="ellipse">
            <a:avLst/>
          </a:prstGeom>
          <a:solidFill>
            <a:srgbClr val="5B7B7A"/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2468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cities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19672" y="2926080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synchronised maps side by side, held at one zoom level.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" y="4059936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4074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5296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18688" y="4507992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" y="4846320"/>
            <a:ext cx="118872" cy="118872"/>
          </a:xfrm>
          <a:prstGeom prst="ellipse">
            <a:avLst/>
          </a:prstGeom>
          <a:solidFill>
            <a:srgbClr val="8A7A4E"/>
          </a:solidFill>
          <a:ln/>
        </p:spPr>
      </p:sp>
      <p:sp>
        <p:nvSpPr>
          <p:cNvPr id="25" name="Text 23"/>
          <p:cNvSpPr/>
          <p:nvPr/>
        </p:nvSpPr>
        <p:spPr>
          <a:xfrm>
            <a:off x="1170432" y="4736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stories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2688" y="519379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narrative periods. Selecting one moves the map and the timeline.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0488" y="4059936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44074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05672" y="4507992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9672" y="4846320"/>
            <a:ext cx="118872" cy="118872"/>
          </a:xfrm>
          <a:prstGeom prst="ellipse">
            <a:avLst/>
          </a:prstGeom>
          <a:solidFill>
            <a:srgbClr val="7A4B52"/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4736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519672" y="519379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five-factor method, and how a record becomes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panel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numbered sections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7922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9504" y="189280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0848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city, compare the two, or open the global network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7614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9504" y="286207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05409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steps from 1890. The 2020s run to today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730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overlay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9504" y="3831336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02336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raster map, opacity, then-and-now swipe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47000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factors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89504" y="4800600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9926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map by the analytic factors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90488" y="17922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3096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split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76488" y="189280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20848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chart, plus junction-level slots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0488" y="27614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3096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record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76488" y="286207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305409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record, its status and its citation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90488" y="3730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83096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Basemap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76488" y="3831336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3" name="Text 31"/>
          <p:cNvSpPr/>
          <p:nvPr/>
        </p:nvSpPr>
        <p:spPr>
          <a:xfrm>
            <a:off x="6483096" y="402336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CARTO styles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0488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35" name="Shape 33"/>
          <p:cNvSpPr/>
          <p:nvPr/>
        </p:nvSpPr>
        <p:spPr>
          <a:xfrm>
            <a:off x="6577350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6" name="Shape 34"/>
          <p:cNvSpPr/>
          <p:nvPr/>
        </p:nvSpPr>
        <p:spPr>
          <a:xfrm>
            <a:off x="6964211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7" name="Shape 35"/>
          <p:cNvSpPr/>
          <p:nvPr/>
        </p:nvSpPr>
        <p:spPr>
          <a:xfrm>
            <a:off x="7351073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38" name="Shape 36"/>
          <p:cNvSpPr/>
          <p:nvPr/>
        </p:nvSpPr>
        <p:spPr>
          <a:xfrm>
            <a:off x="7737934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4796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0" name="Shape 38"/>
          <p:cNvSpPr/>
          <p:nvPr/>
        </p:nvSpPr>
        <p:spPr>
          <a:xfrm>
            <a:off x="8511657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1" name="Shape 39"/>
          <p:cNvSpPr/>
          <p:nvPr/>
        </p:nvSpPr>
        <p:spPr>
          <a:xfrm>
            <a:off x="8898519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2" name="Shape 40"/>
          <p:cNvSpPr/>
          <p:nvPr/>
        </p:nvSpPr>
        <p:spPr>
          <a:xfrm>
            <a:off x="9285380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3" name="Shape 41"/>
          <p:cNvSpPr/>
          <p:nvPr/>
        </p:nvSpPr>
        <p:spPr>
          <a:xfrm>
            <a:off x="9672242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59103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45965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6" name="Shape 44"/>
          <p:cNvSpPr/>
          <p:nvPr/>
        </p:nvSpPr>
        <p:spPr>
          <a:xfrm>
            <a:off x="10832826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7" name="Shape 45"/>
          <p:cNvSpPr/>
          <p:nvPr/>
        </p:nvSpPr>
        <p:spPr>
          <a:xfrm>
            <a:off x="11219688" y="4846320"/>
            <a:ext cx="20117" cy="23774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0488" y="5084064"/>
            <a:ext cx="5029200" cy="9525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9" name="Text 47"/>
          <p:cNvSpPr/>
          <p:nvPr/>
        </p:nvSpPr>
        <p:spPr>
          <a:xfrm>
            <a:off x="5916168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1890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76753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1920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37337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1950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397922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945368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2020s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90488" y="54132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decade scrubber, section 02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JSON files, no database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10512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293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reference.json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128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Decades, eras, five factors, cities, 9 narrative periods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" y="2761488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80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sites.json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31638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site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" y="3712464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8313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modalsplit.json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4114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city-level rows, all placeholder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" y="4663440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782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intersections.json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50657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junction slots, counts empty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620256" y="1737360"/>
          <a:ext cx="4965192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6"/>
          <p:cNvSpPr/>
          <p:nvPr/>
        </p:nvSpPr>
        <p:spPr>
          <a:xfrm>
            <a:off x="6620256" y="4224528"/>
            <a:ext cx="4965192" cy="1481328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20" name="Shape 17"/>
          <p:cNvSpPr/>
          <p:nvPr/>
        </p:nvSpPr>
        <p:spPr>
          <a:xfrm>
            <a:off x="6620256" y="4224528"/>
            <a:ext cx="28346" cy="1481328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1" name="Text 18"/>
          <p:cNvSpPr/>
          <p:nvPr/>
        </p:nvSpPr>
        <p:spPr>
          <a:xfrm>
            <a:off x="6894576" y="4443984"/>
            <a:ext cx="4434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 in the interface is invented. Where a value is unknown the interface prints [TO BE CONFIRMED] instead of filling the gap.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places that mark unconfirmed content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66420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Verified source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21024" y="16642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84048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Unconfirmed placeholder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" y="2048256"/>
            <a:ext cx="10981944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2286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marker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9504" y="2386584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57860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with a dashed edge. Verified records are solid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0488" y="2286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83096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legend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76488" y="2386584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257860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"unconfirmed" entry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32552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card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89504" y="335584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54787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frame and a vermilion warning box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90488" y="32552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83096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field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76488" y="335584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354787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BE CONFIRMED] in vermilion monospace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3504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6112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button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89504" y="432511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451713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copy a placeholder record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90488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83096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counts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76488" y="432511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451713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verified / total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3504" y="51937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" y="5157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draft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889504" y="5294376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548640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on a hatched ground, labelled as not content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and delivery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files, served from the edge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28800"/>
            <a:ext cx="3200400" cy="1316736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482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files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68496" y="2468880"/>
            <a:ext cx="219456" cy="25603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4169664" y="2377440"/>
            <a:ext cx="164592" cy="210312"/>
          </a:xfrm>
          <a:prstGeom prst="triangle">
            <a:avLst/>
          </a:prstGeom>
          <a:solidFill>
            <a:srgbClr val="C15F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62272" y="1828800"/>
            <a:ext cx="3200400" cy="1316736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20482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0016" y="2267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0016" y="26517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27264" y="2468880"/>
            <a:ext cx="219456" cy="25603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8028432" y="2377440"/>
            <a:ext cx="164592" cy="210312"/>
          </a:xfrm>
          <a:prstGeom prst="triangle">
            <a:avLst/>
          </a:prstGeom>
          <a:solidFill>
            <a:srgbClr val="C15F3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828800"/>
            <a:ext cx="3200400" cy="1316736"/>
          </a:xfrm>
          <a:prstGeom prst="rect">
            <a:avLst/>
          </a:prstGeom>
          <a:solidFill>
            <a:srgbClr val="1F1D19"/>
          </a:solidFill>
          <a:ln w="12700">
            <a:solidFill>
              <a:srgbClr val="1F1D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8784" y="20482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58784" y="2267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58784" y="26517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" y="3566160"/>
            <a:ext cx="5705856" cy="1444752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3566160"/>
            <a:ext cx="28346" cy="1444752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raster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" y="405993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PMTiles hosted on GitHub Pages, read with HTTP range requests, so only the tiles in view are fetched.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0256" y="356616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out of scope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0256" y="3877056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PLAN §7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0256" y="4114800"/>
            <a:ext cx="49651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0256" y="4334256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0" name="Text 28"/>
          <p:cNvSpPr/>
          <p:nvPr/>
        </p:nvSpPr>
        <p:spPr>
          <a:xfrm>
            <a:off x="6839712" y="42611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0256" y="4663440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2" name="Text 30"/>
          <p:cNvSpPr/>
          <p:nvPr/>
        </p:nvSpPr>
        <p:spPr>
          <a:xfrm>
            <a:off x="6839712" y="459028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0256" y="4992624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4" name="Text 32"/>
          <p:cNvSpPr/>
          <p:nvPr/>
        </p:nvSpPr>
        <p:spPr>
          <a:xfrm>
            <a:off x="6839712" y="49194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accounts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0256" y="5321808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6" name="Text 34"/>
          <p:cNvSpPr/>
          <p:nvPr/>
        </p:nvSpPr>
        <p:spPr>
          <a:xfrm>
            <a:off x="6839712" y="524865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app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5650992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8" name="Text 36"/>
          <p:cNvSpPr/>
          <p:nvPr/>
        </p:nvSpPr>
        <p:spPr>
          <a:xfrm>
            <a:off x="6839712" y="557784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embedded before rights are cleared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and state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languages, state in the URL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28800"/>
            <a:ext cx="1664208" cy="1170432"/>
          </a:xfrm>
          <a:prstGeom prst="rect">
            <a:avLst/>
          </a:prstGeom>
          <a:solidFill>
            <a:srgbClr val="EAE8E2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01168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828800"/>
            <a:ext cx="1664208" cy="1170432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01168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中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87168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1664208" cy="1170432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01168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70832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7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32004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 interface strings in each language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" y="358444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7307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is a working translation and still needs a native reader before publication.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" y="4572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travels in the link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" y="48646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4974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?lang=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83664" y="49743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· zh · nl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" y="53218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5431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?city=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83664" y="54315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mpls · rdam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" y="57790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5888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?d=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83664" y="58887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1890 … 2020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" y="62362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0256" y="1828800"/>
            <a:ext cx="4965192" cy="4517136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30" name="Text 28"/>
          <p:cNvSpPr/>
          <p:nvPr/>
        </p:nvSpPr>
        <p:spPr>
          <a:xfrm>
            <a:off x="6894576" y="208483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view can be linked and reopened exactly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94576" y="2523744"/>
            <a:ext cx="443484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32" name="Shape 30"/>
          <p:cNvSpPr/>
          <p:nvPr/>
        </p:nvSpPr>
        <p:spPr>
          <a:xfrm>
            <a:off x="6894576" y="2688336"/>
            <a:ext cx="4434840" cy="548640"/>
          </a:xfrm>
          <a:prstGeom prst="rect">
            <a:avLst/>
          </a:prstGeom>
          <a:solidFill>
            <a:srgbClr val="2C2A24"/>
          </a:solidFill>
          <a:ln w="12700">
            <a:solidFill>
              <a:srgbClr val="565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26883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?lang=nl&amp;city=rdam&amp;d=1970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94576" y="3419856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B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city and decade travel in the address bar, so a colleague opens the same screen you were looking at.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94576" y="4626864"/>
            <a:ext cx="443484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36" name="Text 34"/>
          <p:cNvSpPr/>
          <p:nvPr/>
        </p:nvSpPr>
        <p:spPr>
          <a:xfrm>
            <a:off x="6894576" y="48097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guided tour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4576" y="5193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?tour=1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74736" y="519379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seven-step tour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94576" y="56144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?tour=0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74736" y="56144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it, for demos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EF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research team supplies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84708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184708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replace 27 placeholder site records and their citations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" y="2450592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6517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265176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modal split figures with a derivation method and a source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" y="3255264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345643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345643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junctions, then provide counts, method, date and hour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" y="4059936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4261104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426110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nine narrative periods now held by Lorem Ipsum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" y="4864608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5065776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506577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image rights before any image is embedded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" y="5669280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0256" y="1792224"/>
            <a:ext cx="4965192" cy="3986784"/>
          </a:xfrm>
          <a:prstGeom prst="rect">
            <a:avLst/>
          </a:prstGeom>
          <a:solidFill>
            <a:srgbClr val="2C2A24"/>
          </a:solidFill>
          <a:ln w="12700">
            <a:solidFill>
              <a:srgbClr val="565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0256" y="1792224"/>
            <a:ext cx="28346" cy="398678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3" name="Text 21"/>
          <p:cNvSpPr/>
          <p:nvPr/>
        </p:nvSpPr>
        <p:spPr>
          <a:xfrm>
            <a:off x="6912864" y="2048256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decisions needed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12864" y="2487168"/>
            <a:ext cx="4416552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27614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96912" y="2743200"/>
            <a:ext cx="4032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contributions be stored? That requires a backend, which the build plan currently excludes.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12864" y="3858768"/>
            <a:ext cx="4416552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41879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96912" y="4169664"/>
            <a:ext cx="4032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claims "50+ cities" in the network view, but the data file holds 12. Confirm the number or change the wording.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Cycling Cities Tool 2: The Digital Experience</dc:title>
  <dc:subject>PptxGenJS Presentation</dc:subject>
  <dc:creator>Cycling Cities Tool 2</dc:creator>
  <cp:lastModifiedBy>Cycling Cities Tool 2</cp:lastModifiedBy>
  <cp:revision>1</cp:revision>
  <dcterms:created xsi:type="dcterms:W3CDTF">2026-08-25T02:39:10Z</dcterms:created>
  <dcterms:modified xsi:type="dcterms:W3CDTF">2026-08-25T02:39:10Z</dcterms:modified>
</cp:coreProperties>
</file>