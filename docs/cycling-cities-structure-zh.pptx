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D19"/>
                </a:solidFill>
                <a:latin typeface="Songti TC"/>
              </a:defRPr>
            </a:pPr>
            <a:r>
              <a:rPr sz="1300" b="0" i="0" u="none" strike="noStrike">
                <a:solidFill>
                  <a:srgbClr val="1F1D19"/>
                </a:solidFill>
                <a:latin typeface="Songti TC"/>
              </a:rPr>
              <a:t>站點紀錄的出處狀態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已查證</c:v>
                </c:pt>
              </c:strCache>
            </c:strRef>
          </c:tx>
          <c:spPr>
            <a:solidFill>
              <a:srgbClr val="5653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1EFE9"/>
                    </a:solidFill>
                    <a:latin typeface="PingFang TC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站點紀錄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待確認</c:v>
                </c:pt>
              </c:strCache>
            </c:strRef>
          </c:tx>
          <c:spPr>
            <a:solidFill>
              <a:srgbClr val="C15F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1EFE9"/>
                    </a:solidFill>
                    <a:latin typeface="PingFang TC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站點紀錄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F1EFE9"/>
                  </a:solidFill>
                  <a:latin typeface="PingFang TC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7C73"/>
                </a:solidFill>
                <a:latin typeface="PingFang T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D6D3C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7C73"/>
                </a:solidFill>
                <a:latin typeface="PingFang T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1EFE9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65347"/>
              </a:solidFill>
              <a:latin typeface="PingFang TC"/>
              <a:cs typeface="PingFang T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D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CYCLING CITIES  ·  TOOL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1EFE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The Digital Experience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66928" y="361188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BB8A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工作原型的網站結構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4224528"/>
            <a:ext cx="6583680" cy="10058"/>
          </a:xfrm>
          <a:prstGeom prst="rect">
            <a:avLst/>
          </a:prstGeom>
          <a:solidFill>
            <a:srgbClr val="56534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443984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BB8A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原型v2.1     |     明尼亞波利斯／鹿特丹     |     英文·繁體中文·荷蘭文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4828032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15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cycling-cities-platform.vercel.app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66928" y="5541264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07C73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概念原型。31筆站點紀錄，其中4筆出處已查證。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01000" y="1783080"/>
            <a:ext cx="3621024" cy="3108960"/>
          </a:xfrm>
          <a:prstGeom prst="rect">
            <a:avLst/>
          </a:prstGeom>
          <a:solidFill>
            <a:srgbClr val="1F1D19"/>
          </a:solidFill>
          <a:ln w="12700">
            <a:solidFill>
              <a:srgbClr val="56534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01000" y="1783080"/>
            <a:ext cx="3621024" cy="384048"/>
          </a:xfrm>
          <a:prstGeom prst="rect">
            <a:avLst/>
          </a:prstGeom>
          <a:solidFill>
            <a:srgbClr val="565347"/>
          </a:solidFill>
          <a:ln/>
        </p:spPr>
      </p:sp>
      <p:sp>
        <p:nvSpPr>
          <p:cNvPr id="11" name="Text 9"/>
          <p:cNvSpPr/>
          <p:nvPr/>
        </p:nvSpPr>
        <p:spPr>
          <a:xfrm>
            <a:off x="8129016" y="18196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EFE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頂欄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18388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7C73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地圖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451592" y="2350008"/>
            <a:ext cx="1024128" cy="2322576"/>
          </a:xfrm>
          <a:prstGeom prst="rect">
            <a:avLst/>
          </a:prstGeom>
          <a:solidFill>
            <a:srgbClr val="EAE8E2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51592" y="2441448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面板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579608" y="2880360"/>
            <a:ext cx="768096" cy="12801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79608" y="3200400"/>
            <a:ext cx="768096" cy="82296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79608" y="3447288"/>
            <a:ext cx="768096" cy="82296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8" name="Shape 16"/>
          <p:cNvSpPr/>
          <p:nvPr/>
        </p:nvSpPr>
        <p:spPr>
          <a:xfrm>
            <a:off x="10579608" y="3694176"/>
            <a:ext cx="768096" cy="82296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79608" y="3941064"/>
            <a:ext cx="768096" cy="82296"/>
          </a:xfrm>
          <a:prstGeom prst="rect">
            <a:avLst/>
          </a:prstGeom>
          <a:solidFill>
            <a:srgbClr val="D6D3CB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畫面結構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一個畫面，五個區域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17904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整個工具就是單一頁面。沒有任何操作會跳離，所有控制項改變的都是地圖上看到的內容。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5989320" cy="3749040"/>
          </a:xfrm>
          <a:prstGeom prst="rect">
            <a:avLst/>
          </a:prstGeom>
          <a:solidFill>
            <a:srgbClr val="EAE8E2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103120"/>
            <a:ext cx="5989320" cy="420624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21488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1EFE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頂欄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304288" y="38404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7C73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地圖區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27448" y="2724912"/>
            <a:ext cx="1664208" cy="2926080"/>
          </a:xfrm>
          <a:prstGeom prst="rect">
            <a:avLst/>
          </a:prstGeom>
          <a:solidFill>
            <a:srgbClr val="F1EFE9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7448" y="283464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1D1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面板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3752" y="3310128"/>
            <a:ext cx="1371600" cy="146304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873752" y="3675888"/>
            <a:ext cx="1371600" cy="146304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3" name="Shape 11"/>
          <p:cNvSpPr/>
          <p:nvPr/>
        </p:nvSpPr>
        <p:spPr>
          <a:xfrm>
            <a:off x="4873752" y="4041648"/>
            <a:ext cx="1371600" cy="146304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4" name="Shape 12"/>
          <p:cNvSpPr/>
          <p:nvPr/>
        </p:nvSpPr>
        <p:spPr>
          <a:xfrm>
            <a:off x="4873752" y="4407408"/>
            <a:ext cx="1371600" cy="146304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5" name="Shape 13"/>
          <p:cNvSpPr/>
          <p:nvPr/>
        </p:nvSpPr>
        <p:spPr>
          <a:xfrm>
            <a:off x="4873752" y="4773168"/>
            <a:ext cx="1371600" cy="146304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73752" y="5138928"/>
            <a:ext cx="1371600" cy="146304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2761488"/>
            <a:ext cx="2286000" cy="548640"/>
          </a:xfrm>
          <a:prstGeom prst="rect">
            <a:avLst/>
          </a:prstGeom>
          <a:solidFill>
            <a:srgbClr val="F1EFE9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27614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15F3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提示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22960" y="4828032"/>
            <a:ext cx="2103120" cy="786384"/>
          </a:xfrm>
          <a:prstGeom prst="rect">
            <a:avLst/>
          </a:prstGeom>
          <a:solidFill>
            <a:srgbClr val="F1EFE9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828032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地圖卡片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84848" y="2139696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22" name="Text 20"/>
          <p:cNvSpPr/>
          <p:nvPr/>
        </p:nvSpPr>
        <p:spPr>
          <a:xfrm>
            <a:off x="6784848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260336" y="211226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頂欄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60336" y="23957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品牌、四個視圖、搜尋、投稿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784848" y="2889504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26" name="Text 24"/>
          <p:cNvSpPr/>
          <p:nvPr/>
        </p:nvSpPr>
        <p:spPr>
          <a:xfrm>
            <a:off x="6784848" y="2889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60336" y="28620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地圖區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260336" y="314553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Leaflet搭配CARTO底圖，以及有年份的疊圖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784848" y="3639312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30" name="Text 28"/>
          <p:cNvSpPr/>
          <p:nvPr/>
        </p:nvSpPr>
        <p:spPr>
          <a:xfrm>
            <a:off x="6784848" y="3639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60336" y="36118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右側面板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60336" y="389534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主要控制項，分為七個編號區段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784848" y="4389120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34" name="Text 32"/>
          <p:cNvSpPr/>
          <p:nvPr/>
        </p:nvSpPr>
        <p:spPr>
          <a:xfrm>
            <a:off x="6784848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60336" y="43616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狀態提示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260336" y="46451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原型警語，可連到完整的資料狀態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784848" y="5138928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38" name="Text 36"/>
          <p:cNvSpPr/>
          <p:nvPr/>
        </p:nvSpPr>
        <p:spPr>
          <a:xfrm>
            <a:off x="6784848" y="5138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260336" y="51114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地圖卡片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260336" y="53949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圖例、目前城市、目前年代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資訊架構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四個視圖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5285232" cy="2084832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66544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66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2688" y="2542032"/>
            <a:ext cx="4553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探索地圖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32688" y="2944368"/>
            <a:ext cx="4553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一次看一座城市。標記帶有年代與分析因素。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63056" y="1700784"/>
            <a:ext cx="5285232" cy="2084832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28816" y="2066544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11" name="Text 9"/>
          <p:cNvSpPr/>
          <p:nvPr/>
        </p:nvSpPr>
        <p:spPr>
          <a:xfrm>
            <a:off x="6528816" y="2066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28816" y="2542032"/>
            <a:ext cx="4553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雙城比較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28816" y="2944368"/>
            <a:ext cx="4553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兩張同步的地圖並排，維持同一個縮放層級。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096512"/>
            <a:ext cx="5285232" cy="2084832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462272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462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32688" y="4937760"/>
            <a:ext cx="4553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研究故事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32688" y="5340096"/>
            <a:ext cx="4553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九個敘事分期。點選其一，地圖與時間軸一起移動。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63056" y="4096512"/>
            <a:ext cx="5285232" cy="2084832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28816" y="4462272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21" name="Text 19"/>
          <p:cNvSpPr/>
          <p:nvPr/>
        </p:nvSpPr>
        <p:spPr>
          <a:xfrm>
            <a:off x="6528816" y="4462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28816" y="4937760"/>
            <a:ext cx="4553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資料與方法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28816" y="5340096"/>
            <a:ext cx="4553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五因素方法，以及一筆紀錄如何成為已查證。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右側面板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七個編號區段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42416" y="17190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城市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42416" y="20299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切換城市、雙城比較，或開啟全球網絡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651760"/>
            <a:ext cx="5321808" cy="10058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871216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42416" y="2834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年代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42416" y="31455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自1890年起共14格。2020年代一路延伸到今天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67328"/>
            <a:ext cx="5321808" cy="10058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6928" y="3986784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986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42416" y="39502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歷史疊圖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42416" y="426110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有年份的掃描地圖、透明度、今昔對照拉桿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882896"/>
            <a:ext cx="5321808" cy="10058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5102352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5102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42416" y="506577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五因素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42416" y="537667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依分析因素篩選地圖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5998464"/>
            <a:ext cx="5321808" cy="10058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24" name="Shape 22"/>
          <p:cNvSpPr/>
          <p:nvPr/>
        </p:nvSpPr>
        <p:spPr>
          <a:xfrm>
            <a:off x="6163056" y="1755648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25" name="Text 23"/>
          <p:cNvSpPr/>
          <p:nvPr/>
        </p:nvSpPr>
        <p:spPr>
          <a:xfrm>
            <a:off x="6163056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38544" y="17190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運具分擔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638544" y="20299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城市層級圖表，另有路口層級欄位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63056" y="2651760"/>
            <a:ext cx="5321808" cy="10058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29" name="Shape 27"/>
          <p:cNvSpPr/>
          <p:nvPr/>
        </p:nvSpPr>
        <p:spPr>
          <a:xfrm>
            <a:off x="6163056" y="2871216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30" name="Text 28"/>
          <p:cNvSpPr/>
          <p:nvPr/>
        </p:nvSpPr>
        <p:spPr>
          <a:xfrm>
            <a:off x="6163056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38544" y="2834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站點紀錄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38544" y="31455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選取的紀錄、其狀態與出處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63056" y="3767328"/>
            <a:ext cx="5321808" cy="10058"/>
          </a:xfrm>
          <a:prstGeom prst="rect">
            <a:avLst/>
          </a:prstGeom>
          <a:solidFill>
            <a:srgbClr val="D6D3CB"/>
          </a:solidFill>
          <a:ln/>
        </p:spPr>
      </p:sp>
      <p:sp>
        <p:nvSpPr>
          <p:cNvPr id="34" name="Shape 32"/>
          <p:cNvSpPr/>
          <p:nvPr/>
        </p:nvSpPr>
        <p:spPr>
          <a:xfrm>
            <a:off x="6163056" y="3986784"/>
            <a:ext cx="310896" cy="310896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35" name="Text 33"/>
          <p:cNvSpPr/>
          <p:nvPr/>
        </p:nvSpPr>
        <p:spPr>
          <a:xfrm>
            <a:off x="6163056" y="3986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638544" y="39502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底圖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638544" y="426110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三種CARTO樣式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163056" y="4882896"/>
            <a:ext cx="5321808" cy="10058"/>
          </a:xfrm>
          <a:prstGeom prst="rect">
            <a:avLst/>
          </a:prstGeom>
          <a:solidFill>
            <a:srgbClr val="D6D3CB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資料模型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四個JSON檔，沒有資料庫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5760720" cy="859536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86537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5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reference.json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157984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年代、時期、五因素、城市、9個敘事分期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5760720" cy="859536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85292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5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sites.json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3145536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31筆站點紀錄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730752"/>
            <a:ext cx="5760720" cy="859536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8404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5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modalsplit.json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41248" y="413308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28筆城市層級數據，全部為佔位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718304"/>
            <a:ext cx="5760720" cy="859536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8280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5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intersections.json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41248" y="5120640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4個路口欄位，計數留空</a:t>
            </a:r>
            <a:endParaRPr lang="en-US" sz="11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656832" y="1755648"/>
          <a:ext cx="4965192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6656832" y="4261104"/>
            <a:ext cx="4965192" cy="1536192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18" name="Text 15"/>
          <p:cNvSpPr/>
          <p:nvPr/>
        </p:nvSpPr>
        <p:spPr>
          <a:xfrm>
            <a:off x="6931152" y="4480560"/>
            <a:ext cx="4416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1EFE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介面上沒有任何虛構的數字。數值未知時，介面顯示[TO BE CONFIRMED]，而不是把空缺填滿。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出處標示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七個標示待確認內容的位置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42416" y="170078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地圖標記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2416" y="201168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空心虛線外框。已查證者為實心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63056" y="1737360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9" name="Text 7"/>
          <p:cNvSpPr/>
          <p:nvPr/>
        </p:nvSpPr>
        <p:spPr>
          <a:xfrm>
            <a:off x="6163056" y="1737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38544" y="170078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地圖圖例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38544" y="201168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另立「待確認」項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798064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42416" y="27614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紀錄卡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42416" y="307238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虛線外框加朱紅警示框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63056" y="2798064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7" name="Text 15"/>
          <p:cNvSpPr/>
          <p:nvPr/>
        </p:nvSpPr>
        <p:spPr>
          <a:xfrm>
            <a:off x="6163056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38544" y="27614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出處欄位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38544" y="307238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[TO BE CONFIRMED]以朱紅等寬字顯示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858768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42416" y="38221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引用按鈕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42416" y="41330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拒絕複製佔位紀錄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63056" y="3858768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25" name="Text 23"/>
          <p:cNvSpPr/>
          <p:nvPr/>
        </p:nvSpPr>
        <p:spPr>
          <a:xfrm>
            <a:off x="6163056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38544" y="38221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因素計數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38544" y="41330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顯示為已查證／總數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29" name="Text 27"/>
          <p:cNvSpPr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42416" y="488289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敘事草稿框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42416" y="519379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Lorem Ipsum配斜紋底，標明不是內容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建置與部署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靜態檔案，由邊緣節點供應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73936"/>
            <a:ext cx="3200400" cy="1371600"/>
          </a:xfrm>
          <a:prstGeom prst="rect">
            <a:avLst/>
          </a:prstGeom>
          <a:solidFill>
            <a:srgbClr val="EAE8E2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48256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靜態檔案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450592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07C73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無建置流程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950208" y="2432304"/>
            <a:ext cx="256032" cy="45720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8" name="Shape 6"/>
          <p:cNvSpPr/>
          <p:nvPr/>
        </p:nvSpPr>
        <p:spPr>
          <a:xfrm rot="5400000">
            <a:off x="4187952" y="2340864"/>
            <a:ext cx="182880" cy="228600"/>
          </a:xfrm>
          <a:prstGeom prst="triangle">
            <a:avLst/>
          </a:prstGeom>
          <a:solidFill>
            <a:srgbClr val="C15F3C"/>
          </a:solidFill>
          <a:ln/>
        </p:spPr>
      </p:sp>
      <p:sp>
        <p:nvSpPr>
          <p:cNvPr id="9" name="Shape 7"/>
          <p:cNvSpPr/>
          <p:nvPr/>
        </p:nvSpPr>
        <p:spPr>
          <a:xfrm>
            <a:off x="4480560" y="1773936"/>
            <a:ext cx="3200400" cy="1371600"/>
          </a:xfrm>
          <a:prstGeom prst="rect">
            <a:avLst/>
          </a:prstGeom>
          <a:solidFill>
            <a:srgbClr val="EAE8E2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6592" y="2048256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GitHub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36592" y="2450592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07C73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版本紀錄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863840" y="2432304"/>
            <a:ext cx="256032" cy="45720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3" name="Shape 11"/>
          <p:cNvSpPr/>
          <p:nvPr/>
        </p:nvSpPr>
        <p:spPr>
          <a:xfrm rot="5400000">
            <a:off x="8101584" y="2340864"/>
            <a:ext cx="182880" cy="228600"/>
          </a:xfrm>
          <a:prstGeom prst="triangle">
            <a:avLst/>
          </a:prstGeom>
          <a:solidFill>
            <a:srgbClr val="C15F3C"/>
          </a:solidFill>
          <a:ln/>
        </p:spPr>
      </p:sp>
      <p:sp>
        <p:nvSpPr>
          <p:cNvPr id="14" name="Shape 12"/>
          <p:cNvSpPr/>
          <p:nvPr/>
        </p:nvSpPr>
        <p:spPr>
          <a:xfrm>
            <a:off x="8394192" y="1773936"/>
            <a:ext cx="3200400" cy="1371600"/>
          </a:xfrm>
          <a:prstGeom prst="rect">
            <a:avLst/>
          </a:prstGeom>
          <a:solidFill>
            <a:srgbClr val="1F1D19"/>
          </a:solidFill>
          <a:ln w="12700">
            <a:solidFill>
              <a:srgbClr val="1F1D1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50224" y="2048256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EFE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Vercel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50224" y="2450592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BB8A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正式環境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456432"/>
            <a:ext cx="5760720" cy="1481328"/>
          </a:xfrm>
          <a:prstGeom prst="rect">
            <a:avLst/>
          </a:prstGeom>
          <a:solidFill>
            <a:srgbClr val="EAE8E2"/>
          </a:solidFill>
          <a:ln w="12700">
            <a:solidFill>
              <a:srgbClr val="D6D3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3931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5F3C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歷史疊圖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1248" y="3950208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PMTiles放在GitHub Pages，以HTTP range request讀取，只抓取畫面內的圖磚。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56832" y="3456432"/>
            <a:ext cx="4965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刻意不做的範圍（計畫§7）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56832" y="3822192"/>
            <a:ext cx="49651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不建置後端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不建置資料庫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不做使用者帳號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不做原生App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授權未清前不嵌入影像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語言與狀態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三種語言，狀態寫在網址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73936"/>
            <a:ext cx="1700784" cy="1225296"/>
          </a:xfrm>
          <a:prstGeom prst="rect">
            <a:avLst/>
          </a:prstGeom>
          <a:solidFill>
            <a:srgbClr val="1F1D19"/>
          </a:solidFill>
          <a:ln w="12700">
            <a:solidFill>
              <a:srgbClr val="1F1D1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93852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1EFE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EN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66928" y="243230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BB8A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English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05456" y="1773936"/>
            <a:ext cx="1700784" cy="1225296"/>
          </a:xfrm>
          <a:prstGeom prst="rect">
            <a:avLst/>
          </a:prstGeom>
          <a:solidFill>
            <a:srgbClr val="EAE8E2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05456" y="193852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中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505456" y="243230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7C73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繁體中文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43984" y="1773936"/>
            <a:ext cx="1700784" cy="1225296"/>
          </a:xfrm>
          <a:prstGeom prst="rect">
            <a:avLst/>
          </a:prstGeom>
          <a:solidFill>
            <a:srgbClr val="EAE8E2"/>
          </a:solidFill>
          <a:ln w="12700">
            <a:solidFill>
              <a:srgbClr val="BBB8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3984" y="193852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1D1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NL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443984" y="243230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7C73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Nederlands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3163824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15F3C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每種語言各175條介面字串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66928" y="351129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65347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荷蘭文為工作翻譯，發布前仍需母語者審閱。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656832" y="1773936"/>
            <a:ext cx="4965192" cy="3108960"/>
          </a:xfrm>
          <a:prstGeom prst="rect">
            <a:avLst/>
          </a:prstGeom>
          <a:solidFill>
            <a:srgbClr val="1F1D19"/>
          </a:solidFill>
          <a:ln/>
        </p:spPr>
      </p:sp>
      <p:sp>
        <p:nvSpPr>
          <p:cNvPr id="16" name="Text 14"/>
          <p:cNvSpPr/>
          <p:nvPr/>
        </p:nvSpPr>
        <p:spPr>
          <a:xfrm>
            <a:off x="6931152" y="2048256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EFE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任何視角都能連結並原樣重開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931152" y="2578608"/>
            <a:ext cx="4416552" cy="566928"/>
          </a:xfrm>
          <a:prstGeom prst="rect">
            <a:avLst/>
          </a:prstGeom>
          <a:solidFill>
            <a:srgbClr val="565347"/>
          </a:solidFill>
          <a:ln/>
        </p:spPr>
      </p:sp>
      <p:sp>
        <p:nvSpPr>
          <p:cNvPr id="18" name="Text 16"/>
          <p:cNvSpPr/>
          <p:nvPr/>
        </p:nvSpPr>
        <p:spPr>
          <a:xfrm>
            <a:off x="6931152" y="2578608"/>
            <a:ext cx="4416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?lang=nl&amp;city=rdam&amp;d=1970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31152" y="3346704"/>
            <a:ext cx="4416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BBB8A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語言、城市與年代都寫在網址列，同事打開就是你當時看到的那個畫面。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1D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40" kern="0" dirty="0">
                <a:solidFill>
                  <a:srgbClr val="C15F3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下一步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1EFE9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需要研究團隊提供的內容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92224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42416" y="18105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1EFE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確認或替換27筆佔位站點紀錄及其出處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395728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395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42416" y="24140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1EFE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提供運具分擔數據，並附推導方法與出處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999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42416" y="3017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1EFE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選定路口，並提供計數、方法、日期與時段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362102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1EFE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撰寫目前由Lorem Ipsum佔位的九個敘事分期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206240"/>
            <a:ext cx="310896" cy="310896"/>
          </a:xfrm>
          <a:prstGeom prst="rect">
            <a:avLst/>
          </a:prstGeom>
          <a:solidFill>
            <a:srgbClr val="C15F3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EF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42416" y="422452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1EFE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在嵌入任何影像之前釐清授權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56832" y="1737360"/>
            <a:ext cx="4965192" cy="3529584"/>
          </a:xfrm>
          <a:prstGeom prst="rect">
            <a:avLst/>
          </a:prstGeom>
          <a:solidFill>
            <a:srgbClr val="565347"/>
          </a:solidFill>
          <a:ln/>
        </p:spPr>
      </p:sp>
      <p:sp>
        <p:nvSpPr>
          <p:cNvPr id="20" name="Text 18"/>
          <p:cNvSpPr/>
          <p:nvPr/>
        </p:nvSpPr>
        <p:spPr>
          <a:xfrm>
            <a:off x="6931152" y="1975104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5F3C"/>
                </a:solidFill>
                <a:latin typeface="Songti TC" pitchFamily="34" charset="0"/>
                <a:ea typeface="Songti TC" pitchFamily="34" charset="-122"/>
                <a:cs typeface="Songti TC" pitchFamily="34" charset="-120"/>
              </a:rPr>
              <a:t>兩項待決定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931152" y="2468880"/>
            <a:ext cx="4416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1EFE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投稿是否要能被儲存？那需要後端，而計畫目前將其列為非目標。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931152" y="3840480"/>
            <a:ext cx="4416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1EFE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介面在全球網絡視圖寫「50+ cities」，但資料檔只有12座城市。請確認數字或修改用語。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Digital Experience</dc:title>
  <dc:subject>PptxGenJS Presentation</dc:subject>
  <dc:creator>Cycling Cities Tool 2</dc:creator>
  <cp:lastModifiedBy>Cycling Cities Tool 2</cp:lastModifiedBy>
  <cp:revision>1</cp:revision>
  <dcterms:created xsi:type="dcterms:W3CDTF">2026-08-21T07:53:27Z</dcterms:created>
  <dcterms:modified xsi:type="dcterms:W3CDTF">2026-08-21T07:53:27Z</dcterms:modified>
</cp:coreProperties>
</file>