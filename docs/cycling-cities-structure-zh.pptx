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1D19"/>
                </a:solidFill>
                <a:latin typeface="Songti TC"/>
              </a:defRPr>
            </a:pPr>
            <a:r>
              <a:rPr sz="1300" b="0" i="0" u="none" strike="noStrike">
                <a:solidFill>
                  <a:srgbClr val="1F1D19"/>
                </a:solidFill>
                <a:latin typeface="Songti TC"/>
              </a:rPr>
              <a:t>站點紀錄的出處狀態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已查證</c:v>
                </c:pt>
              </c:strCache>
            </c:strRef>
          </c:tx>
          <c:spPr>
            <a:solidFill>
              <a:srgbClr val="5653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EFE9"/>
                    </a:solidFill>
                    <a:latin typeface="JetBrains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站點紀錄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待確認</c:v>
                </c:pt>
              </c:strCache>
            </c:strRef>
          </c:tx>
          <c:spPr>
            <a:solidFill>
              <a:srgbClr val="C15F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1EFE9"/>
                    </a:solidFill>
                    <a:latin typeface="JetBrains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站點紀錄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1EFE9"/>
                  </a:solidFill>
                  <a:latin typeface="JetBrains Mon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7C73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6D3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6A399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1EFE9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65347"/>
              </a:solidFill>
              <a:latin typeface="PingFang TC"/>
              <a:cs typeface="PingFang TC"/>
            </a:defRPr>
          </a:pPr>
          <a:endParaRPr lang="en-US"/>
        </a:p>
      </c:txPr>
    </c:legend>
    <c:plotVisOnly val="1"/>
    <c:dispBlanksAs val="span"/>
  </c:chart>
  <c:spPr>
    <a:solidFill>
      <a:srgbClr val="F1EFE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5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1298448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從自行車的歷史，到移動的未來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1645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BBB8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CYCLING CITIES  ·  TOOL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3504" y="1975104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1EFE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The Digital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1EFE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Experience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603504" y="4041648"/>
            <a:ext cx="640080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4027932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42245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B8A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工作原型的網站結構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3504" y="4791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" y="4974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明尼亞波利斯／鹿特丹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95344" y="4791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95344" y="49743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1890年代至今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5358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3504" y="55412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EN · 繁體中文 · NL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95344" y="5358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95344" y="55412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原型v2.1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59984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cycling-cities-platform.vercel.app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" y="6291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概念原型。31筆站點紀錄，其中4筆出處已查證。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82128" y="1298448"/>
            <a:ext cx="3703320" cy="5212080"/>
          </a:xfrm>
          <a:prstGeom prst="rect">
            <a:avLst/>
          </a:prstGeom>
          <a:solidFill>
            <a:srgbClr val="EAE8E2"/>
          </a:solidFill>
          <a:ln w="12700">
            <a:solidFill>
              <a:srgbClr val="5653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82128" y="1298448"/>
            <a:ext cx="3703320" cy="365760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20" name="Shape 18"/>
          <p:cNvSpPr/>
          <p:nvPr/>
        </p:nvSpPr>
        <p:spPr>
          <a:xfrm>
            <a:off x="8001000" y="1399032"/>
            <a:ext cx="164592" cy="164592"/>
          </a:xfrm>
          <a:prstGeom prst="ellipse">
            <a:avLst/>
          </a:prstGeom>
          <a:solidFill>
            <a:srgbClr val="1F1D19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371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EFE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Cycling Cities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454896" y="1380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F1E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10021824" y="1380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Compare</a:t>
            </a:r>
            <a:endParaRPr lang="en-US" sz="550" dirty="0"/>
          </a:p>
        </p:txBody>
      </p:sp>
      <p:sp>
        <p:nvSpPr>
          <p:cNvPr id="24" name="Text 22"/>
          <p:cNvSpPr/>
          <p:nvPr/>
        </p:nvSpPr>
        <p:spPr>
          <a:xfrm>
            <a:off x="10588752" y="13807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Stories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8266176" y="230428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96528" y="30358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385048" y="381304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253728" y="440740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59368" y="513892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482328" y="340156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933688" y="57790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046720" y="5596128"/>
            <a:ext cx="1737360" cy="749808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47304" y="56875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spc="100" kern="0" dirty="0">
                <a:solidFill>
                  <a:srgbClr val="807C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CURRENT VIEW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8147304" y="58521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Minneapolis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168128" y="1801368"/>
            <a:ext cx="1280160" cy="4562856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68712" y="19110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 CITY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10268712" y="2093976"/>
            <a:ext cx="1078992" cy="182880"/>
          </a:xfrm>
          <a:prstGeom prst="rect">
            <a:avLst/>
          </a:prstGeom>
          <a:solidFill>
            <a:srgbClr val="EAE8E2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68712" y="236829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 DECADE</a:t>
            </a:r>
            <a:endParaRPr lang="en-US" sz="550" dirty="0"/>
          </a:p>
        </p:txBody>
      </p:sp>
      <p:sp>
        <p:nvSpPr>
          <p:cNvPr id="39" name="Text 37"/>
          <p:cNvSpPr/>
          <p:nvPr/>
        </p:nvSpPr>
        <p:spPr>
          <a:xfrm>
            <a:off x="10268712" y="253288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1890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268712" y="2880360"/>
            <a:ext cx="1078992" cy="23774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32136" y="2834640"/>
            <a:ext cx="109728" cy="109728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42" name="Shape 40"/>
          <p:cNvSpPr/>
          <p:nvPr/>
        </p:nvSpPr>
        <p:spPr>
          <a:xfrm>
            <a:off x="10268712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51711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34711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517710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6" name="Shape 44"/>
          <p:cNvSpPr/>
          <p:nvPr/>
        </p:nvSpPr>
        <p:spPr>
          <a:xfrm>
            <a:off x="10600710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83709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66708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849708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32707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1" name="Shape 49"/>
          <p:cNvSpPr/>
          <p:nvPr/>
        </p:nvSpPr>
        <p:spPr>
          <a:xfrm>
            <a:off x="11015706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52" name="Shape 50"/>
          <p:cNvSpPr/>
          <p:nvPr/>
        </p:nvSpPr>
        <p:spPr>
          <a:xfrm>
            <a:off x="11098706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3" name="Shape 51"/>
          <p:cNvSpPr/>
          <p:nvPr/>
        </p:nvSpPr>
        <p:spPr>
          <a:xfrm>
            <a:off x="11181705" y="3008376"/>
            <a:ext cx="11430" cy="3657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54" name="Shape 52"/>
          <p:cNvSpPr/>
          <p:nvPr/>
        </p:nvSpPr>
        <p:spPr>
          <a:xfrm>
            <a:off x="11264705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55" name="Shape 53"/>
          <p:cNvSpPr/>
          <p:nvPr/>
        </p:nvSpPr>
        <p:spPr>
          <a:xfrm>
            <a:off x="11347704" y="3008376"/>
            <a:ext cx="11430" cy="73152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56" name="Text 54"/>
          <p:cNvSpPr/>
          <p:nvPr/>
        </p:nvSpPr>
        <p:spPr>
          <a:xfrm>
            <a:off x="10268712" y="3227832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 OVERLAY</a:t>
            </a:r>
            <a:endParaRPr lang="en-US" sz="550" dirty="0"/>
          </a:p>
        </p:txBody>
      </p:sp>
      <p:sp>
        <p:nvSpPr>
          <p:cNvPr id="57" name="Shape 55"/>
          <p:cNvSpPr/>
          <p:nvPr/>
        </p:nvSpPr>
        <p:spPr>
          <a:xfrm>
            <a:off x="10268712" y="3392424"/>
            <a:ext cx="1078992" cy="182880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68712" y="3666744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 FIVE FACTORS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10268712" y="3849624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332720" y="3918204"/>
            <a:ext cx="54864" cy="5486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68712" y="4105656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32720" y="4174236"/>
            <a:ext cx="54864" cy="54864"/>
          </a:xfrm>
          <a:prstGeom prst="rect">
            <a:avLst/>
          </a:prstGeom>
          <a:solidFill>
            <a:srgbClr val="5B7B7A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68712" y="4361688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32720" y="4430268"/>
            <a:ext cx="54864" cy="54864"/>
          </a:xfrm>
          <a:prstGeom prst="rect">
            <a:avLst/>
          </a:prstGeom>
          <a:solidFill>
            <a:srgbClr val="8A7A4E"/>
          </a:solidFill>
          <a:ln/>
        </p:spPr>
      </p:sp>
      <p:sp>
        <p:nvSpPr>
          <p:cNvPr id="65" name="Shape 63"/>
          <p:cNvSpPr/>
          <p:nvPr/>
        </p:nvSpPr>
        <p:spPr>
          <a:xfrm>
            <a:off x="10268712" y="4617720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32720" y="4686300"/>
            <a:ext cx="54864" cy="54864"/>
          </a:xfrm>
          <a:prstGeom prst="rect">
            <a:avLst/>
          </a:prstGeom>
          <a:solidFill>
            <a:srgbClr val="7A4B52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68712" y="4873752"/>
            <a:ext cx="1078992" cy="192024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332720" y="4942332"/>
            <a:ext cx="54864" cy="54864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69" name="Text 67"/>
          <p:cNvSpPr/>
          <p:nvPr/>
        </p:nvSpPr>
        <p:spPr>
          <a:xfrm>
            <a:off x="10268712" y="5202936"/>
            <a:ext cx="10789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 MODAL SPLIT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10268712" y="5367528"/>
            <a:ext cx="1078992" cy="457200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87000" y="5477256"/>
            <a:ext cx="242316" cy="31089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72" name="Shape 70"/>
          <p:cNvSpPr/>
          <p:nvPr/>
        </p:nvSpPr>
        <p:spPr>
          <a:xfrm>
            <a:off x="10556748" y="5586984"/>
            <a:ext cx="242316" cy="201168"/>
          </a:xfrm>
          <a:prstGeom prst="rect">
            <a:avLst/>
          </a:prstGeom>
          <a:solidFill>
            <a:srgbClr val="5B7B7A"/>
          </a:solidFill>
          <a:ln/>
        </p:spPr>
      </p:sp>
      <p:sp>
        <p:nvSpPr>
          <p:cNvPr id="73" name="Shape 71"/>
          <p:cNvSpPr/>
          <p:nvPr/>
        </p:nvSpPr>
        <p:spPr>
          <a:xfrm>
            <a:off x="10826496" y="5660136"/>
            <a:ext cx="242316" cy="128016"/>
          </a:xfrm>
          <a:prstGeom prst="rect">
            <a:avLst/>
          </a:prstGeom>
          <a:solidFill>
            <a:srgbClr val="8A7A4E"/>
          </a:solidFill>
          <a:ln/>
        </p:spPr>
      </p:sp>
      <p:sp>
        <p:nvSpPr>
          <p:cNvPr id="74" name="Shape 72"/>
          <p:cNvSpPr/>
          <p:nvPr/>
        </p:nvSpPr>
        <p:spPr>
          <a:xfrm>
            <a:off x="11096244" y="5422392"/>
            <a:ext cx="242316" cy="365760"/>
          </a:xfrm>
          <a:prstGeom prst="rect">
            <a:avLst/>
          </a:prstGeom>
          <a:solidFill>
            <a:srgbClr val="5653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畫面結構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一個畫面，五個區域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60934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整個工具就是單一頁面。沒有任何操作會跳離：所有控制項改變的都是地圖上看到的內容。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2121408"/>
            <a:ext cx="5852160" cy="3529584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2121408"/>
            <a:ext cx="5852160" cy="384048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9" name="Text 7"/>
          <p:cNvSpPr/>
          <p:nvPr/>
        </p:nvSpPr>
        <p:spPr>
          <a:xfrm>
            <a:off x="740664" y="21579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F1EF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頂欄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20824" y="3767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40" kern="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地圖區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43584" y="317296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75104" y="413308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980944" y="34930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483864" y="454456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340864" y="495604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86784" y="518464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681728" y="2688336"/>
            <a:ext cx="1609344" cy="2706624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279806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40" kern="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面板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09744" y="3072384"/>
            <a:ext cx="1353312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3059582"/>
            <a:ext cx="310896" cy="25603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1" name="Shape 19"/>
          <p:cNvSpPr/>
          <p:nvPr/>
        </p:nvSpPr>
        <p:spPr>
          <a:xfrm>
            <a:off x="4809744" y="3255264"/>
            <a:ext cx="1353312" cy="201168"/>
          </a:xfrm>
          <a:prstGeom prst="rect">
            <a:avLst/>
          </a:prstGeom>
          <a:solidFill>
            <a:srgbClr val="EAE8E2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9744" y="3602736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950208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4297680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4645152"/>
            <a:ext cx="1353312" cy="201168"/>
          </a:xfrm>
          <a:prstGeom prst="rect">
            <a:avLst/>
          </a:prstGeom>
          <a:solidFill>
            <a:srgbClr val="F1EFE9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724912"/>
            <a:ext cx="2139696" cy="512064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2724912"/>
            <a:ext cx="28346" cy="51206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272491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4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提示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41248" y="4718304"/>
            <a:ext cx="2011680" cy="713232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71830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40" kern="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地圖卡片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84848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77456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頂欄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70848" y="2240280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4" name="Text 32"/>
          <p:cNvSpPr/>
          <p:nvPr/>
        </p:nvSpPr>
        <p:spPr>
          <a:xfrm>
            <a:off x="7077456" y="239572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品牌、四個視圖、搜尋、投稿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84848" y="28346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77456" y="27980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地圖區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70848" y="2935224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8" name="Text 36"/>
          <p:cNvSpPr/>
          <p:nvPr/>
        </p:nvSpPr>
        <p:spPr>
          <a:xfrm>
            <a:off x="7077456" y="30906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Leaflet搭配CARTO底圖，以及有年份的疊圖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84848" y="352958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77456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右側面板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070848" y="3630168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42" name="Text 40"/>
          <p:cNvSpPr/>
          <p:nvPr/>
        </p:nvSpPr>
        <p:spPr>
          <a:xfrm>
            <a:off x="7077456" y="37856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主要控制項，分為七個編號區段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784848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77456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狀態提示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070848" y="4325112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46" name="Text 44"/>
          <p:cNvSpPr/>
          <p:nvPr/>
        </p:nvSpPr>
        <p:spPr>
          <a:xfrm>
            <a:off x="7077456" y="4480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原型警語，可連到完整的資料狀態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784848" y="49194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77456" y="4882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地圖卡片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070848" y="5020056"/>
            <a:ext cx="2514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50" name="Text 48"/>
          <p:cNvSpPr/>
          <p:nvPr/>
        </p:nvSpPr>
        <p:spPr>
          <a:xfrm>
            <a:off x="7077456" y="517550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圖例、目前城市、目前年代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784848" y="5705856"/>
            <a:ext cx="480060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52" name="Text 50"/>
          <p:cNvSpPr/>
          <p:nvPr/>
        </p:nvSpPr>
        <p:spPr>
          <a:xfrm>
            <a:off x="6784848" y="5852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第一次進站會開啟七個步驟的導覽，頂欄的?可隨時重新開啟。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資訊架構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四個視圖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792224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25296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18688" y="2240280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0" name="Shape 8"/>
          <p:cNvSpPr/>
          <p:nvPr/>
        </p:nvSpPr>
        <p:spPr>
          <a:xfrm>
            <a:off x="932688" y="2578608"/>
            <a:ext cx="118872" cy="118872"/>
          </a:xfrm>
          <a:prstGeom prst="ellipse">
            <a:avLst/>
          </a:prstGeom>
          <a:solidFill>
            <a:srgbClr val="C15F3C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2468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探索地圖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32688" y="2926080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一次看一座城市。標記帶有年代與分析因素。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0488" y="1792224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213969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12280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05672" y="2240280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2578608"/>
            <a:ext cx="118872" cy="118872"/>
          </a:xfrm>
          <a:prstGeom prst="ellipse">
            <a:avLst/>
          </a:prstGeom>
          <a:solidFill>
            <a:srgbClr val="5B7B7A"/>
          </a:solidFill>
          <a:ln/>
        </p:spPr>
      </p:sp>
      <p:sp>
        <p:nvSpPr>
          <p:cNvPr id="18" name="Text 16"/>
          <p:cNvSpPr/>
          <p:nvPr/>
        </p:nvSpPr>
        <p:spPr>
          <a:xfrm>
            <a:off x="6757416" y="2468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雙城比較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19672" y="2926080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兩張同步的地圖並排，維持同一個縮放層級。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" y="4059936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4074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25296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18688" y="4507992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688" y="4846320"/>
            <a:ext cx="118872" cy="118872"/>
          </a:xfrm>
          <a:prstGeom prst="ellipse">
            <a:avLst/>
          </a:prstGeom>
          <a:solidFill>
            <a:srgbClr val="8A7A4E"/>
          </a:solidFill>
          <a:ln/>
        </p:spPr>
      </p:sp>
      <p:sp>
        <p:nvSpPr>
          <p:cNvPr id="25" name="Text 23"/>
          <p:cNvSpPr/>
          <p:nvPr/>
        </p:nvSpPr>
        <p:spPr>
          <a:xfrm>
            <a:off x="1170432" y="4736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研究故事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32688" y="519379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九個敘事分期。點選其一，地圖與時間軸一起移動。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0488" y="4059936"/>
            <a:ext cx="5394960" cy="2048256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440740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05672" y="4507992"/>
            <a:ext cx="24505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9672" y="4846320"/>
            <a:ext cx="118872" cy="118872"/>
          </a:xfrm>
          <a:prstGeom prst="ellipse">
            <a:avLst/>
          </a:prstGeom>
          <a:solidFill>
            <a:srgbClr val="7A4B52"/>
          </a:solidFill>
          <a:ln/>
        </p:spPr>
      </p:sp>
      <p:sp>
        <p:nvSpPr>
          <p:cNvPr id="32" name="Text 30"/>
          <p:cNvSpPr/>
          <p:nvPr/>
        </p:nvSpPr>
        <p:spPr>
          <a:xfrm>
            <a:off x="6757416" y="4736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資料與方法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519672" y="5193792"/>
            <a:ext cx="4736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五因素方法，以及一筆紀錄如何成為已查證。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右側面板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七個編號區段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7922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6112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城市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9504" y="189280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0848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切換城市、雙城比較，或開啟全球網絡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27614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年代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89504" y="286207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05409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自1890年起共14格。2020年代一路延伸到今天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7307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歷史疊圖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89504" y="3831336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402336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有年份的掃描地圖、透明度、今昔對照拉桿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03504" y="470001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五因素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89504" y="4800600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4992624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依分析因素篩選地圖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90488" y="17922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83096" y="1755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運具分擔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76488" y="189280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096" y="208483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城市層級圖表，另有路口層級欄位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0488" y="276148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3096" y="2724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站點紀錄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476488" y="286207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305409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選取的紀錄、其狀態與出處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90488" y="37307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83096" y="36941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底圖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76488" y="3831336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3" name="Text 31"/>
          <p:cNvSpPr/>
          <p:nvPr/>
        </p:nvSpPr>
        <p:spPr>
          <a:xfrm>
            <a:off x="6483096" y="402336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三種CARTO樣式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90488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35" name="Shape 33"/>
          <p:cNvSpPr/>
          <p:nvPr/>
        </p:nvSpPr>
        <p:spPr>
          <a:xfrm>
            <a:off x="6577350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6" name="Shape 34"/>
          <p:cNvSpPr/>
          <p:nvPr/>
        </p:nvSpPr>
        <p:spPr>
          <a:xfrm>
            <a:off x="6964211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7" name="Shape 35"/>
          <p:cNvSpPr/>
          <p:nvPr/>
        </p:nvSpPr>
        <p:spPr>
          <a:xfrm>
            <a:off x="7351073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38" name="Shape 36"/>
          <p:cNvSpPr/>
          <p:nvPr/>
        </p:nvSpPr>
        <p:spPr>
          <a:xfrm>
            <a:off x="7737934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9" name="Shape 37"/>
          <p:cNvSpPr/>
          <p:nvPr/>
        </p:nvSpPr>
        <p:spPr>
          <a:xfrm>
            <a:off x="8124796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0" name="Shape 38"/>
          <p:cNvSpPr/>
          <p:nvPr/>
        </p:nvSpPr>
        <p:spPr>
          <a:xfrm>
            <a:off x="8511657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1" name="Shape 39"/>
          <p:cNvSpPr/>
          <p:nvPr/>
        </p:nvSpPr>
        <p:spPr>
          <a:xfrm>
            <a:off x="8898519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2" name="Shape 40"/>
          <p:cNvSpPr/>
          <p:nvPr/>
        </p:nvSpPr>
        <p:spPr>
          <a:xfrm>
            <a:off x="9285380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3" name="Shape 41"/>
          <p:cNvSpPr/>
          <p:nvPr/>
        </p:nvSpPr>
        <p:spPr>
          <a:xfrm>
            <a:off x="9672242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59103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45965" y="4928616"/>
            <a:ext cx="11430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6" name="Shape 44"/>
          <p:cNvSpPr/>
          <p:nvPr/>
        </p:nvSpPr>
        <p:spPr>
          <a:xfrm>
            <a:off x="10832826" y="4846320"/>
            <a:ext cx="11430" cy="182880"/>
          </a:xfrm>
          <a:prstGeom prst="rect">
            <a:avLst/>
          </a:prstGeom>
          <a:solidFill>
            <a:srgbClr val="807C73"/>
          </a:solidFill>
          <a:ln/>
        </p:spPr>
      </p:sp>
      <p:sp>
        <p:nvSpPr>
          <p:cNvPr id="47" name="Shape 45"/>
          <p:cNvSpPr/>
          <p:nvPr/>
        </p:nvSpPr>
        <p:spPr>
          <a:xfrm>
            <a:off x="11219688" y="4846320"/>
            <a:ext cx="20117" cy="23774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0488" y="5084064"/>
            <a:ext cx="5029200" cy="9525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49" name="Text 47"/>
          <p:cNvSpPr/>
          <p:nvPr/>
        </p:nvSpPr>
        <p:spPr>
          <a:xfrm>
            <a:off x="5916168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1890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76753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1920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37337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1950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397922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1980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945368" y="5129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2020s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90488" y="54132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年代滑桿，區段02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資料模型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四個JSON檔，沒有資料庫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10512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2938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reference.json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22128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年代、時期、五因素、城市、9個敘事分期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" y="2761488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880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sites.json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7824" y="31638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31筆站點紀錄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" y="3712464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8313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modalsplit.json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7824" y="4114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28筆城市層級數據，全部為佔位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" y="4663440"/>
            <a:ext cx="5705856" cy="841248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7823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intersections.json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" y="50657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4個路口欄位，計數留空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620256" y="1737360"/>
          <a:ext cx="4965192" cy="22128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6"/>
          <p:cNvSpPr/>
          <p:nvPr/>
        </p:nvSpPr>
        <p:spPr>
          <a:xfrm>
            <a:off x="6620256" y="4224528"/>
            <a:ext cx="4965192" cy="1481328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20" name="Shape 17"/>
          <p:cNvSpPr/>
          <p:nvPr/>
        </p:nvSpPr>
        <p:spPr>
          <a:xfrm>
            <a:off x="6620256" y="4224528"/>
            <a:ext cx="28346" cy="1481328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1" name="Text 18"/>
          <p:cNvSpPr/>
          <p:nvPr/>
        </p:nvSpPr>
        <p:spPr>
          <a:xfrm>
            <a:off x="6894576" y="4443984"/>
            <a:ext cx="4434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介面上沒有任何虛構的數字。數值未知時，介面顯示[TO BE CONFIRMED]，而不是把空缺填滿。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出處標示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七個標示待確認內容的位置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664208"/>
            <a:ext cx="137160" cy="137160"/>
          </a:xfrm>
          <a:prstGeom prst="ellipse">
            <a:avLst/>
          </a:prstGeom>
          <a:solidFill>
            <a:srgbClr val="C15F3C"/>
          </a:solidFill>
          <a:ln w="15875">
            <a:solidFill>
              <a:srgbClr val="F1EF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出處已查證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21024" y="1664208"/>
            <a:ext cx="137160" cy="137160"/>
          </a:xfrm>
          <a:prstGeom prst="ellipse">
            <a:avLst/>
          </a:prstGeom>
          <a:solidFill>
            <a:srgbClr val="F1EFE9"/>
          </a:solidFill>
          <a:ln w="15875">
            <a:solidFill>
              <a:srgbClr val="C15F3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84048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4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待確認的佔位內容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03504" y="2048256"/>
            <a:ext cx="10981944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2286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96112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地圖標記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89504" y="2386584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257860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空心虛線外框。已查證者為實心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90488" y="228600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83096" y="2249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地圖圖例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76488" y="2386584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8" name="Text 16"/>
          <p:cNvSpPr/>
          <p:nvPr/>
        </p:nvSpPr>
        <p:spPr>
          <a:xfrm>
            <a:off x="6483096" y="2578608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另立「待確認」項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3504" y="32552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96112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紀錄卡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89504" y="335584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54787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虛線外框加朱紅警示框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90488" y="325526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83096" y="3218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出處欄位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76488" y="3355848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6" name="Text 24"/>
          <p:cNvSpPr/>
          <p:nvPr/>
        </p:nvSpPr>
        <p:spPr>
          <a:xfrm>
            <a:off x="6483096" y="3547872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[TO BE CONFIRMED]以朱紅等寬字顯示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03504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96112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引用按鈕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89504" y="432511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0" name="Text 28"/>
          <p:cNvSpPr/>
          <p:nvPr/>
        </p:nvSpPr>
        <p:spPr>
          <a:xfrm>
            <a:off x="896112" y="451713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拒絕複製佔位紀錄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90488" y="4224528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83096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因素計數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76488" y="4325112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4" name="Text 32"/>
          <p:cNvSpPr/>
          <p:nvPr/>
        </p:nvSpPr>
        <p:spPr>
          <a:xfrm>
            <a:off x="6483096" y="4517136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顯示為已查證／總數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3504" y="519379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6112" y="5157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敘事草稿框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889504" y="5294376"/>
            <a:ext cx="310896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548640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Lorem Ipsum配斜紋底，標明不是內容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建置與部署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靜態檔案，由邊緣節點供應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28800"/>
            <a:ext cx="3200400" cy="1316736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482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" y="2267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靜態檔案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無建置流程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968496" y="2468880"/>
            <a:ext cx="219456" cy="25603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11" name="Shape 9"/>
          <p:cNvSpPr/>
          <p:nvPr/>
        </p:nvSpPr>
        <p:spPr>
          <a:xfrm rot="5400000">
            <a:off x="4169664" y="2377440"/>
            <a:ext cx="164592" cy="210312"/>
          </a:xfrm>
          <a:prstGeom prst="triangle">
            <a:avLst/>
          </a:prstGeom>
          <a:solidFill>
            <a:srgbClr val="C15F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62272" y="1828800"/>
            <a:ext cx="3200400" cy="1316736"/>
          </a:xfrm>
          <a:prstGeom prst="rect">
            <a:avLst/>
          </a:prstGeom>
          <a:solidFill>
            <a:srgbClr val="EAE8E2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20482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0016" y="2267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GitHub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00016" y="26517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版本紀錄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27264" y="2468880"/>
            <a:ext cx="219456" cy="25603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17" name="Shape 15"/>
          <p:cNvSpPr/>
          <p:nvPr/>
        </p:nvSpPr>
        <p:spPr>
          <a:xfrm rot="5400000">
            <a:off x="8028432" y="2377440"/>
            <a:ext cx="164592" cy="210312"/>
          </a:xfrm>
          <a:prstGeom prst="triangle">
            <a:avLst/>
          </a:prstGeom>
          <a:solidFill>
            <a:srgbClr val="C15F3C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828800"/>
            <a:ext cx="3200400" cy="1316736"/>
          </a:xfrm>
          <a:prstGeom prst="rect">
            <a:avLst/>
          </a:prstGeom>
          <a:solidFill>
            <a:srgbClr val="1F1D19"/>
          </a:solidFill>
          <a:ln w="12700">
            <a:solidFill>
              <a:srgbClr val="1F1D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58784" y="204825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58784" y="2267712"/>
            <a:ext cx="2724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EFE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Vercel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58784" y="265176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8A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正式環境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3504" y="3566160"/>
            <a:ext cx="5705856" cy="1444752"/>
          </a:xfrm>
          <a:prstGeom prst="rect">
            <a:avLst/>
          </a:prstGeom>
          <a:solidFill>
            <a:srgbClr val="EAE8E2"/>
          </a:solidFill>
          <a:ln w="12700">
            <a:solidFill>
              <a:srgbClr val="D6D3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" y="3566160"/>
            <a:ext cx="28346" cy="1444752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" y="3749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歷史疊圖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" y="405993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PMTiles放在GitHub Pages，以HTTP range request讀取，只抓取畫面內的圖磚。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0256" y="3566160"/>
            <a:ext cx="4965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刻意不做的範圍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0256" y="3877056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6A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BUILD PLAN §7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20256" y="4114800"/>
            <a:ext cx="4965192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0256" y="4334256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0" name="Text 28"/>
          <p:cNvSpPr/>
          <p:nvPr/>
        </p:nvSpPr>
        <p:spPr>
          <a:xfrm>
            <a:off x="6839712" y="4261104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不建置後端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20256" y="4663440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2" name="Text 30"/>
          <p:cNvSpPr/>
          <p:nvPr/>
        </p:nvSpPr>
        <p:spPr>
          <a:xfrm>
            <a:off x="6839712" y="4590288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不建置資料庫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620256" y="4992624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4" name="Text 32"/>
          <p:cNvSpPr/>
          <p:nvPr/>
        </p:nvSpPr>
        <p:spPr>
          <a:xfrm>
            <a:off x="6839712" y="4919472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不做使用者帳號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20256" y="5321808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6" name="Text 34"/>
          <p:cNvSpPr/>
          <p:nvPr/>
        </p:nvSpPr>
        <p:spPr>
          <a:xfrm>
            <a:off x="6839712" y="524865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不做原生App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5650992"/>
            <a:ext cx="82296" cy="82296"/>
          </a:xfrm>
          <a:prstGeom prst="rect">
            <a:avLst/>
          </a:prstGeom>
          <a:solidFill>
            <a:srgbClr val="BBB8AE"/>
          </a:solidFill>
          <a:ln/>
        </p:spPr>
      </p:sp>
      <p:sp>
        <p:nvSpPr>
          <p:cNvPr id="38" name="Text 36"/>
          <p:cNvSpPr/>
          <p:nvPr/>
        </p:nvSpPr>
        <p:spPr>
          <a:xfrm>
            <a:off x="6839712" y="5577840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授權未清前不嵌入影像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語言與狀態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三種語言，狀態寫在網址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828800"/>
            <a:ext cx="1664208" cy="1170432"/>
          </a:xfrm>
          <a:prstGeom prst="rect">
            <a:avLst/>
          </a:prstGeom>
          <a:solidFill>
            <a:srgbClr val="EAE8E2"/>
          </a:solidFill>
          <a:ln w="12700">
            <a:solidFill>
              <a:srgbClr val="C15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01168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3504" y="24871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English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828800"/>
            <a:ext cx="1664208" cy="1170432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201168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中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87168" y="24871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繁體中文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828800"/>
            <a:ext cx="1664208" cy="1170432"/>
          </a:xfrm>
          <a:prstGeom prst="rect">
            <a:avLst/>
          </a:prstGeom>
          <a:solidFill>
            <a:srgbClr val="F1EFE9"/>
          </a:solidFill>
          <a:ln w="12700">
            <a:solidFill>
              <a:srgbClr val="BBB8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201168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1D1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70832" y="24871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7C73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Nederlands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" y="32004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每種語言各182條介面字串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504" y="358444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373075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565347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荷蘭文為工作翻譯，發布前仍需母語者審閱。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" y="4572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1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連結裡帶著什麼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" y="48646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49743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?lang=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83664" y="49743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· zh · nl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" y="53218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54315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?city=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83664" y="54315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mpls · rdam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" y="57790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" y="58887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?d=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83664" y="58887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1890 … 2020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" y="6236208"/>
            <a:ext cx="5577840" cy="9525"/>
          </a:xfrm>
          <a:prstGeom prst="rect">
            <a:avLst/>
          </a:prstGeom>
          <a:solidFill>
            <a:srgbClr val="D6D3CB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0256" y="1828800"/>
            <a:ext cx="4965192" cy="4517136"/>
          </a:xfrm>
          <a:prstGeom prst="rect">
            <a:avLst/>
          </a:prstGeom>
          <a:solidFill>
            <a:srgbClr val="1F1D19"/>
          </a:solidFill>
          <a:ln/>
        </p:spPr>
      </p:sp>
      <p:sp>
        <p:nvSpPr>
          <p:cNvPr id="30" name="Text 28"/>
          <p:cNvSpPr/>
          <p:nvPr/>
        </p:nvSpPr>
        <p:spPr>
          <a:xfrm>
            <a:off x="6894576" y="208483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EFE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任何視角都能連結並原樣重開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94576" y="2523744"/>
            <a:ext cx="443484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32" name="Shape 30"/>
          <p:cNvSpPr/>
          <p:nvPr/>
        </p:nvSpPr>
        <p:spPr>
          <a:xfrm>
            <a:off x="6894576" y="2688336"/>
            <a:ext cx="4434840" cy="548640"/>
          </a:xfrm>
          <a:prstGeom prst="rect">
            <a:avLst/>
          </a:prstGeom>
          <a:solidFill>
            <a:srgbClr val="2C2A24"/>
          </a:solidFill>
          <a:ln w="12700">
            <a:solidFill>
              <a:srgbClr val="5653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26883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?lang=nl&amp;city=rdam&amp;d=1970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94576" y="3419856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BBB8A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語言、城市與年代都寫在網址列，同事打開就是你當時看到的那個畫面。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94576" y="4626864"/>
            <a:ext cx="443484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36" name="Text 34"/>
          <p:cNvSpPr/>
          <p:nvPr/>
        </p:nvSpPr>
        <p:spPr>
          <a:xfrm>
            <a:off x="6894576" y="480974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EFE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導覽參數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94576" y="51937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?tour=1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74736" y="519379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8A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開啟七個步驟的導覽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94576" y="56144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?tour=0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74736" y="56144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8A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抑制導覽，方便展示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10981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下一步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" y="749808"/>
            <a:ext cx="1098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1EFE9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需要研究團隊提供的內容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3504" y="1426464"/>
            <a:ext cx="10981944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1412748"/>
            <a:ext cx="457200" cy="28346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84708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184708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確認或替換27筆佔位站點紀錄及其出處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" y="2450592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" y="265176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2651760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提供運具分擔數據，並附推導方法與出處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" y="3255264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" y="345643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7552" y="345643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選定路口，並提供計數、方法、日期與時段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" y="4059936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4261104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4261104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撰寫目前由Lorem Ipsum佔位的九個敘事分期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" y="4864608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" y="5065776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506577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在嵌入任何影像之前釐清授權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" y="5669280"/>
            <a:ext cx="5394960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0256" y="1792224"/>
            <a:ext cx="4965192" cy="3986784"/>
          </a:xfrm>
          <a:prstGeom prst="rect">
            <a:avLst/>
          </a:prstGeom>
          <a:solidFill>
            <a:srgbClr val="2C2A24"/>
          </a:solidFill>
          <a:ln w="12700">
            <a:solidFill>
              <a:srgbClr val="5653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0256" y="1792224"/>
            <a:ext cx="28346" cy="3986784"/>
          </a:xfrm>
          <a:prstGeom prst="rect">
            <a:avLst/>
          </a:prstGeom>
          <a:solidFill>
            <a:srgbClr val="C15F3C"/>
          </a:solidFill>
          <a:ln/>
        </p:spPr>
      </p:sp>
      <p:sp>
        <p:nvSpPr>
          <p:cNvPr id="23" name="Text 21"/>
          <p:cNvSpPr/>
          <p:nvPr/>
        </p:nvSpPr>
        <p:spPr>
          <a:xfrm>
            <a:off x="6912864" y="2048256"/>
            <a:ext cx="4416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5F3C"/>
                </a:solidFill>
                <a:latin typeface="Songti TC" pitchFamily="34" charset="0"/>
                <a:ea typeface="Songti TC" pitchFamily="34" charset="-122"/>
                <a:cs typeface="Songti TC" pitchFamily="34" charset="-120"/>
              </a:rPr>
              <a:t>兩項待決定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12864" y="2487168"/>
            <a:ext cx="4416552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276148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96912" y="2743200"/>
            <a:ext cx="4032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投稿是否要能被儲存？那需要後端，而計畫目前將其列為非目標。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12864" y="3858768"/>
            <a:ext cx="4416552" cy="9525"/>
          </a:xfrm>
          <a:prstGeom prst="rect">
            <a:avLst/>
          </a:prstGeom>
          <a:solidFill>
            <a:srgbClr val="565347"/>
          </a:solidFill>
          <a:ln/>
        </p:spPr>
      </p:sp>
      <p:sp>
        <p:nvSpPr>
          <p:cNvPr id="28" name="Text 26"/>
          <p:cNvSpPr/>
          <p:nvPr/>
        </p:nvSpPr>
        <p:spPr>
          <a:xfrm>
            <a:off x="6912864" y="418795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15F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96912" y="4169664"/>
            <a:ext cx="4032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1EFE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介面在全球網絡視圖寫「50+ cities」，但資料檔只有12座城市。請確認數字或修改用語。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Cycling Cities Tool 2: The Digital Experience</dc:title>
  <dc:subject>PptxGenJS Presentation</dc:subject>
  <dc:creator>Cycling Cities Tool 2</dc:creator>
  <cp:lastModifiedBy>Cycling Cities Tool 2</cp:lastModifiedBy>
  <cp:revision>1</cp:revision>
  <dcterms:created xsi:type="dcterms:W3CDTF">2026-08-25T02:39:10Z</dcterms:created>
  <dcterms:modified xsi:type="dcterms:W3CDTF">2026-08-25T02:39:10Z</dcterms:modified>
</cp:coreProperties>
</file>